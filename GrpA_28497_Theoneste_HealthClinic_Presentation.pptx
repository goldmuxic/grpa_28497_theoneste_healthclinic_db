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93" d="100"/>
          <a:sy n="93" d="100"/>
        </p:scale>
        <p:origin x="25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406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85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702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379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816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489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38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92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102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170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076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6386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7006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9428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619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49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52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FCC1C58-F9F4-44C2-BA09-9C775AD12864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29DD478-96DD-4485-B631-7B9816AE83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56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Clinic Medicine Management System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547654" cy="2601054"/>
          </a:xfrm>
        </p:spPr>
        <p:txBody>
          <a:bodyPr>
            <a:normAutofit/>
          </a:bodyPr>
          <a:lstStyle/>
          <a:p>
            <a:r>
              <a:rPr lang="en-GB" sz="1400" dirty="0" smtClean="0"/>
              <a:t>PL/SQL Database Development Capstone</a:t>
            </a:r>
          </a:p>
          <a:p>
            <a:r>
              <a:rPr lang="en-GB" sz="1400" dirty="0" smtClean="0"/>
              <a:t> </a:t>
            </a:r>
            <a:r>
              <a:rPr lang="en-GB" sz="1400" b="1" dirty="0" smtClean="0"/>
              <a:t>Name : </a:t>
            </a:r>
            <a:r>
              <a:rPr lang="en-GB" sz="1400" dirty="0" smtClean="0"/>
              <a:t>Bahati Theoneste ID: 28497 </a:t>
            </a:r>
            <a:r>
              <a:rPr lang="en-GB" sz="1400" b="1" dirty="0" smtClean="0"/>
              <a:t>Group:</a:t>
            </a:r>
            <a:r>
              <a:rPr lang="en-GB" sz="1400" dirty="0" smtClean="0"/>
              <a:t> A (Monday)                            </a:t>
            </a:r>
          </a:p>
          <a:p>
            <a:r>
              <a:rPr lang="en-GB" sz="1400" dirty="0" smtClean="0"/>
              <a:t> Adventist University of Central Africa (AUCA) </a:t>
            </a:r>
            <a:r>
              <a:rPr lang="en-GB" sz="1400" b="1" dirty="0" smtClean="0"/>
              <a:t>Date:</a:t>
            </a:r>
            <a:r>
              <a:rPr lang="en-GB" sz="1400" dirty="0" smtClean="0"/>
              <a:t> Dec 6, 2025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667995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Problem: Manual Inventory Risks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068732"/>
            <a:ext cx="5542736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400" b="1" dirty="0" smtClean="0"/>
              <a:t>Context:</a:t>
            </a:r>
            <a:r>
              <a:rPr lang="en-GB" sz="1400" dirty="0" smtClean="0"/>
              <a:t> The clinic relies on manual paper logs for medicine tracking.</a:t>
            </a:r>
          </a:p>
          <a:p>
            <a:pPr marL="0" indent="0">
              <a:buNone/>
            </a:pPr>
            <a:r>
              <a:rPr lang="en-GB" sz="1400" b="1" dirty="0" smtClean="0"/>
              <a:t>Critical Issues:</a:t>
            </a:r>
            <a:endParaRPr lang="en-GB" sz="1400" dirty="0" smtClean="0"/>
          </a:p>
          <a:p>
            <a:r>
              <a:rPr lang="en-GB" sz="1400" b="1" dirty="0" err="1" smtClean="0"/>
              <a:t>Stockouts</a:t>
            </a:r>
            <a:r>
              <a:rPr lang="en-GB" sz="1400" b="1" dirty="0" smtClean="0"/>
              <a:t>:</a:t>
            </a:r>
            <a:r>
              <a:rPr lang="en-GB" sz="1400" dirty="0" smtClean="0"/>
              <a:t> Essential drugs run out without warning.</a:t>
            </a:r>
          </a:p>
          <a:p>
            <a:r>
              <a:rPr lang="en-GB" sz="1400" b="1" dirty="0" smtClean="0"/>
              <a:t>Expired Medication:</a:t>
            </a:r>
            <a:r>
              <a:rPr lang="en-GB" sz="1400" dirty="0" smtClean="0"/>
              <a:t> Batches expire unnoticed, risking patient safety.</a:t>
            </a:r>
          </a:p>
          <a:p>
            <a:r>
              <a:rPr lang="en-GB" sz="1400" b="1" dirty="0" smtClean="0"/>
              <a:t>Security Gaps:</a:t>
            </a:r>
            <a:r>
              <a:rPr lang="en-GB" sz="1400" dirty="0" smtClean="0"/>
              <a:t> Unrestricted access allows data manipulation at any time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400" b="1" dirty="0" smtClean="0"/>
              <a:t>Impact:</a:t>
            </a:r>
            <a:r>
              <a:rPr lang="en-GB" sz="1400" dirty="0" smtClean="0"/>
              <a:t> compromised patient care and financial loss.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874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The Solution: Automated PL/SQL Database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1400" b="1" dirty="0" smtClean="0"/>
              <a:t>Objective:</a:t>
            </a:r>
            <a:r>
              <a:rPr lang="en-GB" sz="1400" dirty="0" smtClean="0"/>
              <a:t> Build a secure, automated inventory system using Oracle Database.</a:t>
            </a:r>
          </a:p>
          <a:p>
            <a:pPr marL="0" indent="0">
              <a:buNone/>
            </a:pPr>
            <a:r>
              <a:rPr lang="en-GB" sz="1400" b="1" dirty="0" smtClean="0"/>
              <a:t>Key Capabilities:</a:t>
            </a:r>
            <a:endParaRPr lang="en-GB" sz="1400" dirty="0" smtClean="0"/>
          </a:p>
          <a:p>
            <a:r>
              <a:rPr lang="en-GB" sz="1400" b="1" dirty="0" smtClean="0"/>
              <a:t>Real-time Tracking:</a:t>
            </a:r>
            <a:r>
              <a:rPr lang="en-GB" sz="1400" dirty="0" smtClean="0"/>
              <a:t> Stock decreases automatically upon dispensing.</a:t>
            </a:r>
          </a:p>
          <a:p>
            <a:r>
              <a:rPr lang="en-GB" sz="1400" b="1" dirty="0" smtClean="0"/>
              <a:t>Predictive Analytics:</a:t>
            </a:r>
            <a:r>
              <a:rPr lang="en-GB" sz="1400" dirty="0" smtClean="0"/>
              <a:t> Calculates exact days of supply remaining.</a:t>
            </a:r>
          </a:p>
          <a:p>
            <a:r>
              <a:rPr lang="en-GB" sz="1400" b="1" dirty="0" smtClean="0"/>
              <a:t>Strict Security:</a:t>
            </a:r>
            <a:r>
              <a:rPr lang="en-GB" sz="1400" dirty="0" smtClean="0"/>
              <a:t> "Weekend-Only" update rule for administrators.</a:t>
            </a:r>
          </a:p>
          <a:p>
            <a:pPr marL="0" indent="0">
              <a:buNone/>
            </a:pPr>
            <a:r>
              <a:rPr lang="en-GB" sz="1400" b="1" dirty="0" smtClean="0"/>
              <a:t>Scope:</a:t>
            </a:r>
            <a:r>
              <a:rPr lang="en-GB" sz="1400" dirty="0" smtClean="0"/>
              <a:t> Focuses on Medicine, Stock, Usage Logs, and Auditing. </a:t>
            </a:r>
            <a:endParaRPr lang="en-GB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3223" y="3358463"/>
            <a:ext cx="4654378" cy="261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4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Logical Database Model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241334"/>
            <a:ext cx="105156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Normalized to 3rd Normal Form (3NF).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Entities: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MEDICINE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Static details (Name, Price, Expiry).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STOCK_LEVEL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Dynamic quantity (Linked via FK).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USAGE_LOG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Transactional history.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Model: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444" y="2634843"/>
            <a:ext cx="4914233" cy="277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35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Dispensing Workflow (BPMN)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516208"/>
            <a:ext cx="5101076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Process Flow: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Pharmacist requests medicine.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System checks stock status (Function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check_stock_status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 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Decision: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If Stock &lt; Request &gt;&gt; Block Transaction.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Action: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If Allowed &gt;&gt; Deduct Stock &amp; Log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458" y="2657476"/>
            <a:ext cx="4793347" cy="347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Technical Architecture</a:t>
            </a:r>
            <a:endParaRPr lang="en-GB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295401" y="3277681"/>
            <a:ext cx="5662063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Oracle Database 19c / 23ai (PDB Architecture).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Schema Owner: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ADMIN_28497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Tablespaces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TBS_CLINIC_DATA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for performance.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PL/SQL Logic: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Package: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pkg_clinic_management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encapsulates all logic.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Procedures: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dispense_medicine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restock_medicine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Functions: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predict_days_remaining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validate_batch_no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512" y="2516659"/>
            <a:ext cx="3396050" cy="348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89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7832122" cy="45949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Security &amp; Auditing (Phase VII)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77780" y="2363282"/>
            <a:ext cx="5816016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Rule: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Updates allowed on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Weekends Only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(Sat/Sun).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Compound Trigger: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trg_medicine_security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Holiday Management: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Blocks updates on Public Holidays.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Auditing: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Autonomous Transactions: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Logs every attempt (Denied/Allowed)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ACCESS_AUDIT_LOG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082" y="2718486"/>
            <a:ext cx="4341396" cy="327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7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Analytics &amp; Innovation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0" y="3031034"/>
            <a:ext cx="7049529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Innovation: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System moves beyond storage to </a:t>
            </a: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Forecasting: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Function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predict_days_remaining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estimates supply duration based on daily averages.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 Analysis: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Window Function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LAG()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analyze usage growth (Increasing vs. Declining).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Ranking: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Uses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RANK() OVER (PARTITION BY category)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financial reporting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146" y="3311610"/>
            <a:ext cx="3763890" cy="275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3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System Validation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708568"/>
            <a:ext cx="668567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Integrity: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Constraints prevent negative stock (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CHECK &gt;= 0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 Safety: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dispense_medicine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performs atomic updates (Rollback on error).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Evidence: &gt;&gt;&gt;&gt;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423" y="2781758"/>
            <a:ext cx="3509318" cy="337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29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631624"/>
            <a:ext cx="6629764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Achievements: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functional, secure PL/SQL backend.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complex logic (Cursors, Triggers, Packages).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 all security and auditing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Lessons Learned: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Importance of Autonomous Transactions for security logging.</a:t>
            </a:r>
          </a:p>
        </p:txBody>
      </p:sp>
    </p:spTree>
    <p:extLst>
      <p:ext uri="{BB962C8B-B14F-4D97-AF65-F5344CB8AC3E}">
        <p14:creationId xmlns:p14="http://schemas.microsoft.com/office/powerpoint/2010/main" val="2099501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81</TotalTime>
  <Words>483</Words>
  <Application>Microsoft Office PowerPoint</Application>
  <PresentationFormat>Widescreen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Unicode MS</vt:lpstr>
      <vt:lpstr>Calibri</vt:lpstr>
      <vt:lpstr>Garamond</vt:lpstr>
      <vt:lpstr>Google Sans Text</vt:lpstr>
      <vt:lpstr>Organic</vt:lpstr>
      <vt:lpstr>Health Clinic Medicine Management System</vt:lpstr>
      <vt:lpstr>The Problem: Manual Inventory Risks</vt:lpstr>
      <vt:lpstr>The Solution: Automated PL/SQL Database</vt:lpstr>
      <vt:lpstr>Logical Database Model</vt:lpstr>
      <vt:lpstr>Dispensing Workflow (BPMN)</vt:lpstr>
      <vt:lpstr>Technical Architecture</vt:lpstr>
      <vt:lpstr>Security &amp; Auditing (Phase VII)</vt:lpstr>
      <vt:lpstr>Analytics &amp; Innovation</vt:lpstr>
      <vt:lpstr>System Validation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Clinic Medicine Management System</dc:title>
  <dc:creator>gold</dc:creator>
  <cp:lastModifiedBy>gold</cp:lastModifiedBy>
  <cp:revision>15</cp:revision>
  <dcterms:created xsi:type="dcterms:W3CDTF">2025-12-07T19:57:34Z</dcterms:created>
  <dcterms:modified xsi:type="dcterms:W3CDTF">2025-12-07T21:19:30Z</dcterms:modified>
</cp:coreProperties>
</file>